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91295" y="914400"/>
            <a:ext cx="2286000" cy="64008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4255" y="182880"/>
            <a:ext cx="640080" cy="2286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SGP-Pharma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7F3D0"/>
                </a:solidFill>
                <a:latin typeface="Calibri"/>
              </a:rPr>
              <a:t>Système de Gestion Intégrée de Pharmacie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Manuel utilisateur — Présentation des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OPTINET SARLU — Quartier Agoè Cacavéli, Lomé, Togo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7F3D0"/>
                </a:solidFill>
                <a:latin typeface="Calibri"/>
              </a:rPr>
              <a:t>+228 90 74 84 65 · optinetsarl@gmail.com · www.optinet.tg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Version 1.1 —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13 modules + 1 vue 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1. Connexion &amp; Rôles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Sécurité JWT, 5 niveaux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2. Tableau de bord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KPIs + alertes péremption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3.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Catalogue ~150 médicaments CAMEG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4. Stock &amp; 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743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Gestion par lot avec FEFO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5. Réception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Entrée stock +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6. Commandes fournisseur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Bons + PDF A4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7. Fournisseurs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Annuaire CAMEG / Ubipharm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8. Caisse (POS)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657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Vente FEFO + ordonnance + 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9. Pertes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Péremption / Casse / Vol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10. Rapports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114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CA, top, marges,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11. Utilisateurs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72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RBAC + reset mot de passe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572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12. Journal d'audit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Traçabilité légale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13. Multi-pharmacies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Mode SaaS Super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14. Vue Super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029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Calibri"/>
              </a:rPr>
              <a:t>Tableau agrégé OPTINET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1 — AUTHENTIFICATION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Connexion &amp; Gestion des rôles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Authentification sécurisée par JWT — 5 niveaux d'accès distincts.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Comptes de démonstration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Super Admin (OPTINET) — optinet@sgp-pharma.tg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Admin Pharmacie — admin@sgp-pharma.tg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Pharmacien — pharmacien@sgp-pharma.tg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Caissier — caissier@sgp-pharma.tg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Magasinier — magasinier@sgp-pharma.tg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Sécurité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Mots de passe chiffrés (bcrypt)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Verrouillage après 5 tentatives (15 min)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Tokens JWT 8h + refresh 7 jours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Switch FR / EN en bas de la barre latérale</a:t>
            </a:r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2 —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Vue d'ensemble en temps réel : ventes, stock, alertes critiques.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KPIs principaux (cartes vertes)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 du jour &amp; du mois (FCFA)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Valeur totale du stock + nombre d'unités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Nombre d'ordonnances servies aujourd'hui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Alertes critiques (rouge / orange)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Lots expirés (rouge) — à retirer immédiatement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Expirations &lt; 30 jours (orange) — à écouler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Produits en stock faible (sous le seuil)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Visualisation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Graphique ventes des 7 derniers jours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Liste alertes péremption détaillée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Tableau produits sous le seuil d'alerte</a:t>
            </a:r>
          </a:p>
        </p:txBody>
      </p:sp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3 — PRODUITS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Produits — Catalogue CAMEG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~150 médicaments essentiels couvrant tous les besoins du marché togolais.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Données par produit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Code-barres, nom commercial, DCI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Forme pharmaceutique (cp, sirop, gélule…)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Catégorie (Antibiotiques, Antipaludiques…)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Prix de vente, seuil d'alerte stock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Indicateur ordonnance requise (Oui/Non)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Recherche intelligente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Recherche par nom, DCI ou code-barres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Catégories couvertes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Antalgiques, Antibiotiques, Antipaludiques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Cardiologie, Diabète, Gastro, Respiratoire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Dermato, Gynéco, Pédiatrie, Vitamines, Matériel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VIH/TB, Antiparasitaires, Anesthésiques, Solutions</a:t>
            </a:r>
          </a:p>
        </p:txBody>
      </p:sp>
      <p:pic>
        <p:nvPicPr>
          <p:cNvPr id="9" name="Picture 8" descr="02_prod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4 — STOCK &amp; 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Stock &amp; Lots — Traçabilité FEFO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Vue par lot avec date de péremption et badges colorés.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Badges FEFO automatiques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OK (vert) — péremption &gt; 90 jours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Bientôt (orange) — entre 0 et 90 jours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Expiré (rouge) — péremption dépassée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Informations par lot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Numéro de lot fabricant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Date de péremption + jours restants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Quantité actuelle / prix d'achat unitaire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Statut : Actif / Bloqué / Épuisé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Actions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Bloquer un lot (qualité douteuse)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Filtrage par produit ou texte libre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Tri automatique par péremption croissante</a:t>
            </a:r>
          </a:p>
        </p:txBody>
      </p:sp>
      <p:pic>
        <p:nvPicPr>
          <p:cNvPr id="9" name="Picture 8" descr="03_stock_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5 — RÉCEPTION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Réception 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Entrée de stock multi-lignes avec validation stricte de péremption.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Saisie obligatoire par ligne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Produit (sélection dans catalogue)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Numéro de lot fabricant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Date de péremption (refus si &lt; aujourd'hui)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Prix d'achat unitaire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Quantité reçue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Règles métier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Blocage immédiat si lot déjà expiré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Création automatique mouvement ENTREE_ACHAT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Lien optionnel vers un bon de commande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Productivité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Réception multi-lignes en une seule transaction</a:t>
            </a:r>
          </a:p>
        </p:txBody>
      </p:sp>
      <p:pic>
        <p:nvPicPr>
          <p:cNvPr id="9" name="Picture 8" descr="04_re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6 — COMMANDES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Bons de commande fournisseur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Gestion des commandes avec génération PDF A4 imprimable.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Cycle de commande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Brouillon → Validée → Reçue → Clôturée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Modification de statut depuis la liste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Génération PDF A4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Téléchargement instantané (icône télécharger)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En-tête vert OPTINET + nom pharmacie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Coordonnées fournisseur + date + statut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Tableau articles avec total HT en FCFA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Zone signature pharmacie + fournisseur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Données calculées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Total automatique (Σ qté × prix)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Audit log à chaque changement de statut</a:t>
            </a:r>
          </a:p>
        </p:txBody>
      </p:sp>
      <p:pic>
        <p:nvPicPr>
          <p:cNvPr id="9" name="Picture 8" descr="05_comm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7 — FOURNISSEURS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Fournisseurs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Annuaire des grossistes pharmaceutiques.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Pré-chargés (démo)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CAMEG Togo (centrale d'achat nationale)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UBIPHARM Togo, COPHARMA, Laborex Togo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Champs gérés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Raison sociale, contact, email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Téléphone, adresse complète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Actions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Création / modification / suppression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Liaison aux lots (traçabilité origine)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Liaison aux bons de commande</a:t>
            </a:r>
          </a:p>
        </p:txBody>
      </p:sp>
      <p:pic>
        <p:nvPicPr>
          <p:cNvPr id="9" name="Picture 8" descr="06_fourniss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8 — CAISSE 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Caisse (POS) — Vente avec FEFO automatique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Interface optimisée pour le caissier — sélection de lot intelligente.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Recherche &amp; ajout panier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Recherche par nom / DCI / code-barres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Clic = ajout au panier (+1)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Indicateur ordonnance + stock disponible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Algorithme FEFO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Sélection auto du lot le plus proche péremption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Lots expirés exclus systématiquement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Décrémentation atomique (race-safe)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Ordonnance (si requise)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Référence texte + photo (upload base64)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Prévisualisation miniature avant validation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Ticket de caisse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PDF thermique 80mm téléchargeable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Modes : Espèces / Carte / Mobile money</a:t>
            </a:r>
          </a:p>
        </p:txBody>
      </p:sp>
      <p:pic>
        <p:nvPicPr>
          <p:cNvPr id="9" name="Picture 8" descr="07_caisse_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9 — PERTES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Pertes &amp; Casses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Justification fiscale et comptable des sorties non-vendeuses.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3 motifs disponibles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Péremption — auto-détectable nightly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Casse — produit endommagé physiquement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Vol — disparition non justifiée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Effets sur le système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Décrémentation immédiate du lot concerné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Création de mouvement PERTE_* (immuable)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Audit log avec utilisateur + horodatage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Cas d'usage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Justification fiscale auprès du CAMEG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Suivi des pertes par motif sur la période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Identification produits à risque (vol récurrent)</a:t>
            </a:r>
          </a:p>
        </p:txBody>
      </p:sp>
      <p:pic>
        <p:nvPicPr>
          <p:cNvPr id="9" name="Picture 8" descr="08_pe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10 — RAPPORTS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Rapports &amp; Analyses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3 rapports clés avec export CSV.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Onglet Historique des ventes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Liste détaillée période (date, client, total, mode)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Export CSV pour comptabilité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Onglet Top produits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Classement quantité vendue + CA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Top 10 par défaut (configurable)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Onglet Marge brute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Calcul marge = CA − Coût (par produit)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Marge en FCFA + en pourcentage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Optimisation MongoDB aggregation $lookup</a:t>
            </a:r>
          </a:p>
        </p:txBody>
      </p:sp>
      <p:pic>
        <p:nvPicPr>
          <p:cNvPr id="9" name="Picture 8" descr="09_rap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11 — UTILISATEURS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Gestion des utilisateurs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Création de comptes + réinitialisation mots de passe sécurisée.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Création utilisateur (Admin)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Email unique + nom complet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Mot de passe initial (≥ 6 caractères)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Rôle : Admin / Pharmacien / Caissier / Magasinier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Pharmacie d'affectation (Super Admin uniquement)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Réinitialisation mot de passe (icône clé)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Génération automatique pass temporaire fort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Affichage UNE SEULE FOIS dans une modale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Bouton de copie vers presse-papier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Activation / désactivation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Bouton Actif / Inactif (toggle)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Suppression avec confirmation</a:t>
            </a:r>
          </a:p>
        </p:txBody>
      </p:sp>
      <p:pic>
        <p:nvPicPr>
          <p:cNvPr id="9" name="Picture 8" descr="10_utilisate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12 — AUDIT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Journal d'audit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Traçabilité légale de toutes les actions critiques.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Actions journalisées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Connexions / déconnexions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CRUD produits / suppliers / utilisateurs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Réceptions de stock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Ventes (montant, panier)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Pertes (motif, quantité)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Resets de mots de passe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Données capturées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Utilisateur (email + ID), horodatage UTC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Adresse IP, action, entité concernée, détails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Conformité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Conservation immuable (insert-only)</a:t>
            </a:r>
          </a:p>
        </p:txBody>
      </p:sp>
      <p:pic>
        <p:nvPicPr>
          <p:cNvPr id="9" name="Picture 8" descr="11_audit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MODULE 13 — MULTI-PHARMACIES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Multi-pharmacies — Mode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Architecture multi-tenant : OPTINET peut servir plusieurs officines.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Rôle Super Admin (OPTINET)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Voit toutes les pharmacies du système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Crée / modifie / supprime des pharmacies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Crée des admins par pharmacie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Rôle Admin Pharmacie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Vue limitée à sa propre pharmacie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Affichage du nom en bandeau vert (sidebar)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Isolation stricte des données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Produits, stocks, ventes, utilisateurs cloisonnés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Cross-tenant access → erreur 404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Données par pharmacie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Nom, adresse, téléphone, email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N° d'agrément officiel, devise (FCFA)</a:t>
            </a:r>
          </a:p>
        </p:txBody>
      </p:sp>
      <p:pic>
        <p:nvPicPr>
          <p:cNvPr id="9" name="Picture 8" descr="12_pharma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SGP-PHARMA · OPTINET SARLU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095" y="73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Manuel utilisateur · v1.1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6534"/>
                </a:solidFill>
                <a:latin typeface="Calibri"/>
              </a:rPr>
              <a:t>VUE SUPER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66534"/>
                </a:solidFill>
                <a:latin typeface="Calibri"/>
              </a:rPr>
              <a:t>Vue Super Admin OPTINET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Calibri"/>
              </a:rPr>
              <a:t>Tableau de bord agrégé sur l'ensemble du parc de pharmacies.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Bandeau jaune Mode Super Admin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Visible dans la barre latérale gauche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Indique « Vue toutes pharmacies »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Données agrégées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CA cumulé toutes pharmacies confondues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Valeur stock totale du réseau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Alertes péremption consolidées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b="1" sz="1300">
                <a:solidFill>
                  <a:srgbClr val="111827"/>
                </a:solidFill>
                <a:latin typeface="Calibri"/>
              </a:rPr>
              <a:t>Cas d'usage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OPTINET supervise un réseau (Lomé, Kara…)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11827"/>
                </a:solidFill>
                <a:latin typeface="Calibri"/>
              </a:rPr>
              <a:t>• Onboarding rapide d'une nouvelle officine</a:t>
            </a:r>
          </a:p>
        </p:txBody>
      </p:sp>
      <p:pic>
        <p:nvPicPr>
          <p:cNvPr id="9" name="Picture 8" descr="13_super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6126480" cy="38290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© 2026 OPTINET SARLU · Lomé, Togo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7F3D0"/>
                </a:solidFill>
                <a:latin typeface="Calibr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OPTINET SARLU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A7F3D0"/>
                </a:solidFill>
                <a:latin typeface="Calibri"/>
              </a:rPr>
              <a:t>Solutions Réseaux &amp; Télécommunications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Quartier Agoè Cacavéli, derrière la CEET — Lomé, Togo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+228 90 74 84 65   ·   +228 99 05 84 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optinetsarl@gmail.com   ·   www.optinet.tg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7F3D0"/>
                </a:solidFill>
                <a:latin typeface="Calibri"/>
              </a:rPr>
              <a:t>Directeur Général : NABINE Tassounti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A7F3D0"/>
                </a:solidFill>
                <a:latin typeface="Calibri"/>
              </a:rPr>
              <a:t>RCCM : TG-LFW-01-2026-B13-00831   ·   NIF : 1002114979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